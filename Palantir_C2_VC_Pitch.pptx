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6366F1"/>
            </a:solidFill>
            <a:effectLst>
              <a:outerShdw sx="100000" sy="100000" kx="0" ky="0" algn="bl" blurRad="101600" rotWithShape="1" dist="38100" dir="8100000">
                <a:srgbClr val="000000">
                  <a:alpha val="10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1.8</c:v>
                </c:pt>
                <c:pt idx="2">
                  <c:v>6.5</c:v>
                </c:pt>
                <c:pt idx="3">
                  <c:v>16</c:v>
                </c:pt>
                <c:pt idx="4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Go-to-Market</c:v>
                </c:pt>
                <c:pt idx="2">
                  <c:v>Compliance &amp; Certifications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943600" y="-457200"/>
            <a:ext cx="4114800" cy="4114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6858000" y="-914400"/>
            <a:ext cx="3657600" cy="3657600"/>
          </a:xfrm>
          <a:prstGeom prst="rect">
            <a:avLst/>
          </a:prstGeom>
          <a:solidFill>
            <a:srgbClr val="334155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PALANTIR C2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Command &amp; Control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$5M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F2T2EA kill chain with multi-agent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defense &amp; allied nations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$28B market with a broken status quo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C2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kill chains still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manual handoffs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7180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cycle times measured in hours, not minutes — adversaries are faster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4728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fragmented across stovepipe systems with no unified fusion layer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2277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8770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C2 systems cost $100M+ and take 3-5 years to deploy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9826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43525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shortage of trained ISR analysts — demand exceeds supply 4:1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AI C2 that deploys in weeks, not years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2606040" cy="45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AI Agents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automates the complete F2T2EA kill chain from sensor to shooter. Reduces cycle time from hours to minutes.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508760"/>
            <a:ext cx="260604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1508760"/>
            <a:ext cx="2606040" cy="45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Sensor-Agnostic Fusion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fusion across EO/IR, SAR, SIGINT, GMTI, and FMV. Works with any hardware — no vendor lock-in.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60604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9360" y="150876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Two-Gate HITL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human-in-the-loop at every engagement decision. Three autonomy levels from MANUAL to AUTONOMOUS.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4005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in weeks vs. years for legacy C2 systems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402336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4005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operation — runs without API keys in heuristic mode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02336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83680" y="4005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 tests, typed contracts, production-grade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integrated subsystems, one platform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379476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Command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CesiumJS globe with 6 map modes, multi-layout drone cameras, and 75 UI components. Operators see everything in real-time.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417320"/>
            <a:ext cx="379476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Engine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0574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UAV dynamics, 10 target types with unique AI behaviors, multi-sensor detection model, and swarm coordination.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108960"/>
            <a:ext cx="379476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Layer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37490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LangGraph agents covering ISR, strategy, tactics, and effects. Multi-LLM fallback chain (Gemini → Anthropic → Ollama → Heuristic).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10896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108960"/>
            <a:ext cx="3794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Theater Engine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37490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YAML-configurable theaters (Romania, South China Sea, Baltic) with custom ORBAT, ROE, weather, and terrain. New scenarios in minutes.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Large, growing, and underserved by incumbents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840480" cy="3291840"/>
          </a:xfrm>
          <a:prstGeom prst="ellipse">
            <a:avLst/>
          </a:prstGeom>
          <a:solidFill>
            <a:srgbClr val="6366F1">
              <a:alpha val="12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2011680"/>
            <a:ext cx="2926080" cy="2377440"/>
          </a:xfrm>
          <a:prstGeom prst="ellipse">
            <a:avLst/>
          </a:prstGeom>
          <a:solidFill>
            <a:srgbClr val="6366F1">
              <a:alpha val="20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2560320"/>
            <a:ext cx="2011680" cy="1463040"/>
          </a:xfrm>
          <a:prstGeom prst="ellipse">
            <a:avLst/>
          </a:prstGeom>
          <a:solidFill>
            <a:srgbClr val="6366F1">
              <a:alpha val="35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463040"/>
            <a:ext cx="54864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5780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C2 &amp; ISR market (DoD, NATO, Five Eyes, allied nations)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56032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560320"/>
            <a:ext cx="54864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$4.2B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5780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C2 software for Western defense forces — excludes hardware, legacy platforms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365760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3657600"/>
            <a:ext cx="54864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3730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5780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DoD + Five Eyes initial addressable contracts for AI kill-chain automation in Year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 with software, expand with services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27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License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SaaS license per operational theater. Tiered by UAV count, user seats, and agent capabilities.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1417320"/>
            <a:ext cx="260604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417320"/>
            <a:ext cx="2606040" cy="45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627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5760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Services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0" y="2423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theater configuration, sensor integration, and C2 system interop. High-margin professional services.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1417320"/>
            <a:ext cx="260604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141732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1627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49224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Support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92240" y="2423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programs, 24/7 mission support, and ongoing theater scenario development.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Unit Economics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4206240"/>
            <a:ext cx="18745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224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$800K-$2M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0080" y="4572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 — Per theater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0" y="4206240"/>
            <a:ext cx="18745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2"/>
          <p:cNvSpPr/>
          <p:nvPr/>
        </p:nvSpPr>
        <p:spPr>
          <a:xfrm>
            <a:off x="2743200" y="4224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75-80%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2743200" y="4572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— Software-led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846320" y="4206240"/>
            <a:ext cx="18745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5"/>
          <p:cNvSpPr/>
          <p:nvPr/>
        </p:nvSpPr>
        <p:spPr>
          <a:xfrm>
            <a:off x="4846320" y="4224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130%+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4846320" y="4572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 — Theater expansion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949440" y="4206240"/>
            <a:ext cx="18745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28"/>
          <p:cNvSpPr/>
          <p:nvPr/>
        </p:nvSpPr>
        <p:spPr>
          <a:xfrm>
            <a:off x="6949440" y="4224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&lt;18mo</a:t>
            </a:r>
            <a:endParaRPr lang="en-US" sz="1700" dirty="0"/>
          </a:p>
        </p:txBody>
      </p:sp>
      <p:sp>
        <p:nvSpPr>
          <p:cNvPr id="34" name="Text 29"/>
          <p:cNvSpPr/>
          <p:nvPr/>
        </p:nvSpPr>
        <p:spPr>
          <a:xfrm>
            <a:off x="6949440" y="4572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— CAC recovery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Defense-first, then expand to allies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DoD Beachhead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SBIR/STTR contracts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 engagement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AFWERX demos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pilot programs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1732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17320"/>
            <a:ext cx="26060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783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2-3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of Record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4231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ACAT III pathway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ATO/IL5 certification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production contracts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$5-10M ARR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41732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3-5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Allied Expansion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4231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Eyes partners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interop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$30M+ ARR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$30M+ ARR in 5 years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ARR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0664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$34M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12-18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2980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130%+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0664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&lt;18mo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85+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2-3 pilot contracts in Year 1, first production contract Q3 2027, Five Eyes expansion from 2028. ACV $800K-$2M with 130%+ NRR from theater expansion.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only end-to-end AI kill chain platform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Palantir C2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Legacy C2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(Raytheon, L3)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Palantir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Technologies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Anduril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Lattice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AI Kill Chain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Full F2T2EA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Manual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 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 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Multi-Sensor Fusion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5 sensor types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Siloed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 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Swarm Coordination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Built-in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HITL Approval Gates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Two-gate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 Manual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Deploy 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Weeks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3-5 years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Months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Months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Open Architecture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YAML configs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Proprietary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 Semi-open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Proprietary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Heuristic Fallback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✓ No keys needed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N/A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Requires LLM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✗ Requires infra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$800K-$2M ACV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$50-100M+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$10M+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$5-20M+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and battle-tested — not a slide deck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Passing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quality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26060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32K+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Python modules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26060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Components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26060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kill chain coverage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834640"/>
            <a:ext cx="26060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74720" y="3429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Theater Configs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Romania, SCS, Baltic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834640"/>
            <a:ext cx="26060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Actions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657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protocol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Milestones: SBIR Phase I submission (Q2 2026) → DIU prototype demo (Q3 2026) → AFWERX STRATFI application (Q4 2026) → First pilot deployment (Q1 2027)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$5M Seed to reach first production contract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417320"/>
            <a:ext cx="3794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09160" y="1417320"/>
            <a:ext cx="54864" cy="685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/>
          <p:nvPr/>
        </p:nvSpPr>
        <p:spPr>
          <a:xfrm>
            <a:off x="4937760" y="1463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(50%)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2376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$2.5M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8 engineers. Build sensor integrations, harden for IL5, and scale swarm capabilities.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2240280"/>
            <a:ext cx="3794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240280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(25%)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23760" y="2286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$1.25M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BD lead and solution architect. Fund SBIR/STTR applications and DIU prototype demos.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09160" y="3063240"/>
            <a:ext cx="3794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306324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108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(15%)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22376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$750K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process, FedRAMP IL5 pathway, ITAR compliance, and security certifications.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09160" y="3886200"/>
            <a:ext cx="3794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886200"/>
            <a:ext cx="54864" cy="6858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(10%)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23760" y="3931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3776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infrastructure, legal, and 18 months of runway buffer.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to Series A triggers: first production contract, $1.5M+ ARR, 3+ active theaters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Convergence of tailwinds makes this the moment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1417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DoD AI Mandate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CDAO's AI adoption strategy requires AI-enabled C2 across all combatant commands by 2028. Budget allocation tripled since 2023.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79476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417320"/>
            <a:ext cx="54864" cy="14173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002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94960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Cost Collapse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19659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that cost $100K/month in 2023 now runs for $5K/month. Heuristic fallback makes it deployable at zero marginal AI cost.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3063240"/>
            <a:ext cx="379476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" y="3063240"/>
            <a:ext cx="54864" cy="14173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Threat Urgency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68680" y="36118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and Russia fielding AI-enabled autonomous systems. NATO allies accelerating AI C2 procurement — 5x budget increases across Europe.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9160" y="3063240"/>
            <a:ext cx="379476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4709160" y="3063240"/>
            <a:ext cx="54864" cy="14173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2461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Clarity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937760" y="36118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Directive 3000.09 updated for autonomous weapons. Clear framework for HITL AI systems — exactly what Palantir C2 implements.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943600" y="-457200"/>
            <a:ext cx="4114800" cy="4114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6858000" y="-914400"/>
            <a:ext cx="3657600" cy="3657600"/>
          </a:xfrm>
          <a:prstGeom prst="rect">
            <a:avLst/>
          </a:prstGeom>
          <a:solidFill>
            <a:srgbClr val="334155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PALANTIR C2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Seed  |  18-Month Runway  |  First Production Contract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kill chain is inevitable. We're building it now.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37744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MEETING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  |  fc23871@bristol.ac.uk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Palantir C2 — Seed Round</dc:title>
  <dc:subject>PptxGenJS Presentation</dc:subject>
  <dc:creator>Palantir C2 Team</dc:creator>
  <cp:lastModifiedBy>Palantir C2 Team</cp:lastModifiedBy>
  <cp:revision>1</cp:revision>
  <dcterms:created xsi:type="dcterms:W3CDTF">2026-03-22T22:44:23Z</dcterms:created>
  <dcterms:modified xsi:type="dcterms:W3CDTF">2026-03-22T22:44:23Z</dcterms:modified>
</cp:coreProperties>
</file>