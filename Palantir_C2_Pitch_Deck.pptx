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5943600" y="-457200"/>
            <a:ext cx="4114800" cy="4114800"/>
          </a:xfrm>
          <a:prstGeom prst="rect">
            <a:avLst/>
          </a:prstGeom>
          <a:solidFill>
            <a:srgbClr val="24355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100000">
            <a:off x="6858000" y="-914400"/>
            <a:ext cx="3657600" cy="3657600"/>
          </a:xfrm>
          <a:prstGeom prst="rect">
            <a:avLst/>
          </a:prstGeom>
          <a:solidFill>
            <a:srgbClr val="2E4470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783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PALANTIR C2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2606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Command &amp; Control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2461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F2T2EA Kill Chain with Multi-Agent AI,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Swarm Orchestration &amp; Real-Time Sensor Fusion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709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battlespaces overwhelm human decision-makers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794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 Overload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2402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face hundreds of sensor feeds, tracks, and intelligence reports simultaneously across multiple domains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600200"/>
            <a:ext cx="3794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60020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288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of Decision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83480" y="22402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 kill chains compress timelines from hours to minutes — human-only loops cannot keep pace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3200400"/>
            <a:ext cx="3794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20040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Silos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14400" y="38404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EO/IR, SAR, SIGINT, and GMTI data remain fragmented across systems, preventing unified threat pictures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3200400"/>
            <a:ext cx="3794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320040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4290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Accountability Gap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83480" y="38404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systems lack transparency; commanders need auditable, explainable AI recommendations with HITL gates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AI-assisted kill chain automation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188720" cy="1463040"/>
          </a:xfrm>
          <a:prstGeom prst="rect">
            <a:avLst/>
          </a:prstGeom>
          <a:solidFill>
            <a:srgbClr val="3B82F6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54480"/>
            <a:ext cx="118872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92224" y="20574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47672" y="1554480"/>
            <a:ext cx="1188720" cy="1463040"/>
          </a:xfrm>
          <a:prstGeom prst="rect">
            <a:avLst/>
          </a:prstGeom>
          <a:solidFill>
            <a:srgbClr val="0EA5E9">
              <a:alpha val="2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947672" y="1554480"/>
            <a:ext cx="118872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47672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145536" y="20574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300984" y="1554480"/>
            <a:ext cx="1188720" cy="146304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3300984" y="1554480"/>
            <a:ext cx="118872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17830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00984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498848" y="20574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54296" y="1554480"/>
            <a:ext cx="1188720" cy="1463040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4654296" y="1554480"/>
            <a:ext cx="11887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7830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654296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852160" y="20574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007608" y="1554480"/>
            <a:ext cx="1188720" cy="1463040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6007608" y="1554480"/>
            <a:ext cx="118872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7830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07608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205472" y="20574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360920" y="1554480"/>
            <a:ext cx="1188720" cy="1463040"/>
          </a:xfrm>
          <a:prstGeom prst="rect">
            <a:avLst/>
          </a:prstGeom>
          <a:solidFill>
            <a:srgbClr val="8B5CF6">
              <a:alpha val="25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7360920" y="1554480"/>
            <a:ext cx="118872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78308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60920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</a:t>
            </a:r>
            <a:endParaRPr lang="en-US" sz="13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3337560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783080" y="3337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AI Agents orchestrate each phase autonomously</a:t>
            </a:r>
            <a:endParaRPr lang="en-US" sz="12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3749040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783080" y="3749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fusion across EO/IR, SAR, SIGINT, GMTI</a:t>
            </a:r>
            <a:endParaRPr lang="en-US" sz="12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4160520"/>
            <a:ext cx="256032" cy="25603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783080" y="4160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Two-gate Human-in-the-Loop approval for every strike</a:t>
            </a:r>
            <a:endParaRPr lang="en-US" sz="12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1600" y="4572000"/>
            <a:ext cx="256032" cy="25603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783080" y="4572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10Hz real-time simulation with physics-based UAV dynamics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tightly integrated subsystems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94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379476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10Hz WebSocket loop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Dual-client model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autonomy levels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feed routing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463040"/>
            <a:ext cx="3794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463040"/>
            <a:ext cx="379476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916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Engine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4068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UAV dynamics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state machine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pipeline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coordination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200400"/>
            <a:ext cx="3794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200400"/>
            <a:ext cx="379476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401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+ Cesium Frontend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3749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geospatial globe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map modes &amp; overlays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Multi-layout drone cameras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UI components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3200400"/>
            <a:ext cx="3794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3200400"/>
            <a:ext cx="379476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290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401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Layer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440680" y="3749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LangGraph agents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F2T2EA kill chain pipeline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support agents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fallback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ORCHESTRA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Kill Chain Pipeline — 4 Primary Agents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" cy="7132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54533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45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490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ISR Observer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76479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sensor fusion across UAV, satellite, and SIGINT feeds. Track correlation with confidence scoring and retasking recommendations.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286000"/>
            <a:ext cx="54864" cy="7132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414016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359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Analyst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263347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each detection against theater-specific Rules of Engagement. Produces priority scores and nomination recommendations.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54680"/>
            <a:ext cx="54864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3282696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227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Tactical Planner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350215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three ranked Courses of Action optimized for speed, probability of kill, and cost efficiency. Human selects preferred COA.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023360"/>
            <a:ext cx="54864" cy="7132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Effectors Agent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437083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authorized strikes with probabilistic engagement simulation. Conducts post-strike Battle Damage Assessment and reports outcomes.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 →  FIX  →  TRACK  →  TARGET  →  ENGAGE  →  ASSESS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ORCHESTRA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Specialist Support Agents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" cy="47548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996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538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Analyzer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566160" y="145389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— detects anomalies in convoy frequency, new facilities, and movement surges across historical data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0080" y="1984248"/>
            <a:ext cx="7863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984248"/>
            <a:ext cx="54864" cy="47548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6654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0208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Tasking Manager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66160" y="202082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sensor retasking — evaluates asset availability and directs nearest high-fidelity assets for verification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40080" y="2551176"/>
            <a:ext cx="7863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551176"/>
            <a:ext cx="54864" cy="47548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3347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587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Battlespace Manager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566160" y="258775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backbone — threat-ring modeling, coverage gap detection, and terrain-aware mission path generation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40080" y="3118104"/>
            <a:ext cx="7863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118104"/>
            <a:ext cx="54864" cy="47548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0040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1546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Synthesis Query Agent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566160" y="315468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 — converts raw tactical data into executive SITREPs for commanding officers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40080" y="3685032"/>
            <a:ext cx="7863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3685032"/>
            <a:ext cx="54864" cy="47548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67328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37216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Auditor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566160" y="372160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improvement — audits kill-chain outcomes, flags discrepancies, detects model drift across engagements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868680" y="44348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run in heuristic mode by default (no API keys required). With LLM keys, agents upgrade via multi-provider fallback: Gemini → Anthropic → Ollama → Heuristic.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FUSION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Complementary fusion across all sensor modalities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73152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463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= 1 - </a:t>
            </a:r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( 1 - ci 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1371600" cy="1097280"/>
          </a:xfrm>
          <a:prstGeom prst="rect">
            <a:avLst/>
          </a:prstGeom>
          <a:solidFill>
            <a:srgbClr val="3B82F6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51460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EO/IR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Electro-Optical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 imaging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2514600"/>
            <a:ext cx="1371600" cy="1097280"/>
          </a:xfrm>
          <a:prstGeom prst="rect">
            <a:avLst/>
          </a:prstGeom>
          <a:solidFill>
            <a:srgbClr val="0EA5E9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2514600"/>
            <a:ext cx="1371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233172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Aperture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86200" y="2514600"/>
            <a:ext cx="1371600" cy="109728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86200" y="251460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SIGINT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8620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Intelligence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RF spectrum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40680" y="2514600"/>
            <a:ext cx="1371600" cy="1097280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40680" y="251460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GMTI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Moving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Indicator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95160" y="2514600"/>
            <a:ext cx="1371600" cy="1097280"/>
          </a:xfrm>
          <a:prstGeom prst="rect">
            <a:avLst/>
          </a:prstGeom>
          <a:solidFill>
            <a:srgbClr val="8B5CF6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995160" y="2514600"/>
            <a:ext cx="13716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FMV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840480"/>
            <a:ext cx="182880" cy="182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691640" y="3840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Max-within-type deduplication prevents sensor redundancy</a:t>
            </a:r>
            <a:endParaRPr lang="en-US" sz="11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33088"/>
            <a:ext cx="182880" cy="1828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691640" y="41330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Unscented Kalman Filter (UKF) per-target with temporal decay</a:t>
            </a:r>
            <a:endParaRPr lang="en-US" sz="11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42569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691640" y="44256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Cross-sensor disagreement detection flags conflicting intelligence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718304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691640" y="47183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FusionResult dataclasses ensure data integrity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COORDINATION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multi-UAV task assignment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7947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90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1168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UAV Flight Modes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FOLLOW, PAINT, INTERCEPT, SUPPORT, VERIFY, OVERWATCH, BDA, IDLE, REPOSITIONING, RTB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37947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6032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33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1168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TTL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task expiry with target state transition release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37947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0332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76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10Hz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01168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simulation with smooth heading arcs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14173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Coordination Engine</a:t>
            </a:r>
            <a:endParaRPr lang="en-US" sz="15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874520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UAV-to-target assignment with sensor-gap detection</a:t>
            </a:r>
            <a:endParaRPr lang="en-US" sz="10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258568"/>
            <a:ext cx="201168" cy="20116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029200" y="2258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scoring: threat weight × verification gap × coverage need</a:t>
            </a:r>
            <a:endParaRPr lang="en-US" sz="10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642616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29200" y="26426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Idle-count guard ensures reserves for new detections</a:t>
            </a:r>
            <a:endParaRPr lang="en-US" sz="10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026664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29200" y="3026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types auto-adjust per target type and sensor loadout</a:t>
            </a:r>
            <a:endParaRPr lang="en-US" sz="10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410712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29200" y="3410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imbalance tracking drives autonomous repositioning</a:t>
            </a:r>
            <a:endParaRPr lang="en-US" sz="10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794760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02920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release on target state transitions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Two-gate approval system for every engagement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794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3794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1: NOMINATION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Observer + Strategy Analyst propose targets based on sensor fusion and ROE evaluation.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actions: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— target advances to COA generation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— target removed from strike pipeline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RETASK — request additional sensor verification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3794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508760"/>
            <a:ext cx="3794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2: COA AUTHORIZATION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0574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Planner generates 3 ranked Courses of Action, each optimized for a different priority.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by: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— fastest time-to-effect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P(Kill) — highest probability of success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most resource-efficient option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Autonomy Levels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2560320" cy="54864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389120"/>
            <a:ext cx="25603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434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645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decisions require operator input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29000" y="4389120"/>
            <a:ext cx="2560320" cy="54864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438912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4434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4645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proposes, operator approves/rejects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4389120"/>
            <a:ext cx="2560320" cy="54864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438912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4434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4645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executes with operator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 3D geospatial command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146304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256032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Cesium 3D Globe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entity rendering with 19 dedicated hooks for drones, targets, zones, and overlays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29000" y="1463040"/>
            <a:ext cx="2560320" cy="146304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10" name="Shape 7"/>
          <p:cNvSpPr/>
          <p:nvPr/>
        </p:nvSpPr>
        <p:spPr>
          <a:xfrm>
            <a:off x="3429000" y="1463040"/>
            <a:ext cx="256032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6459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Map Modes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OPERATIONAL, COVERAGE, THREAT, FUSION, SWARM, and TERRAIN views with keyboard shortcuts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463040"/>
            <a:ext cx="2560320" cy="146304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15" name="Shape 11"/>
          <p:cNvSpPr/>
          <p:nvPr/>
        </p:nvSpPr>
        <p:spPr>
          <a:xfrm>
            <a:off x="6217920" y="1463040"/>
            <a:ext cx="256032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Multi-Layout Cameras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PIP, SPLIT, and QUAD drone camera layouts with 4 sensor modes (EO/IR, SAR, SIGINT, FUSION)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40080" y="3154680"/>
            <a:ext cx="2560320" cy="146304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" y="3154680"/>
            <a:ext cx="256032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375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Sidebar Tabs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2296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(theater, intel, strikes), ASSETS (drone control), ENEMIES (targets, verification), ASSESS (threats)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429000" y="3154680"/>
            <a:ext cx="2560320" cy="146304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25" name="Shape 19"/>
          <p:cNvSpPr/>
          <p:nvPr/>
        </p:nvSpPr>
        <p:spPr>
          <a:xfrm>
            <a:off x="3429000" y="3154680"/>
            <a:ext cx="256032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33756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SIGINT Display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61188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spectrum waterfall visualization with real-time signal classification and emitter geolocation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217920" y="3154680"/>
            <a:ext cx="2560320" cy="146304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30" name="Shape 23"/>
          <p:cNvSpPr/>
          <p:nvPr/>
        </p:nvSpPr>
        <p:spPr>
          <a:xfrm>
            <a:off x="6217920" y="3154680"/>
            <a:ext cx="256032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375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0080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Layer Overlays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0080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Threat, Fusion, Swarm, and Terrain overlays with per-layer visibility toggles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 CONFIGURATIONS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Pre-configured for diverse operational scenarios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Romania Eastern Flank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Defensive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FORCE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MQ-9 UAVs (24h endurance)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FORCE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SAM, TEL, TRUCK, CP, MANPADS, RADAR, C2, LOGISTICS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Grassland / Clear weather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146304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1463040"/>
            <a:ext cx="260604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South China Sea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19659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Patrol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3774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FORCE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P-8 Poseidon (10h endurance)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31546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FORCE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0" y="3337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DESTROYER, FRIGATE, MISSILE BOAT, SUBMARINE, SAM, 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39319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0" y="4114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/ Partly cloudy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146304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46304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Baltic States Defense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19659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Forward Defense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23774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FORCE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9224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MQ-9 UAVs (20h endurance)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31546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FORCE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3337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SAM, TEL, MANPADS, RADAR, APC, IFV, MBT, C2, LOGISTICS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39319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92240" y="4114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Urban-forest / Overcast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Theaters are YAML-configurable — add custom scenarios in minutes with custom Blue/Red ORBAT, weather, terrain, and ROE.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Rigorous state machine prevents false engagements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737360" cy="640080"/>
          </a:xfrm>
          <a:prstGeom prst="rect">
            <a:avLst/>
          </a:prstGeom>
          <a:solidFill>
            <a:srgbClr val="8899B4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1737360" cy="45720"/>
          </a:xfrm>
          <a:prstGeom prst="rect">
            <a:avLst/>
          </a:prstGeom>
          <a:solidFill>
            <a:srgbClr val="8899B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3172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4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554480"/>
            <a:ext cx="1737360" cy="64008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651760" y="1554480"/>
            <a:ext cx="17373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4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173736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554480"/>
            <a:ext cx="17373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4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1554480"/>
            <a:ext cx="1737360" cy="64008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0" y="1554480"/>
            <a:ext cx="17373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NOMINATED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514600"/>
            <a:ext cx="3794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251460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Threat-Adaptive Thresholds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29260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High-threat targets (SAM, TEL, MANPADS) advance through verification faster due to urgency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Low-priority targets (TRUCK, LOGISTICS) require higher confidence thresholds before nomination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Per-target-type configurable thresholds ensure proportional response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DEMO_FAST preset halves all verification times for live demonstrations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514600"/>
            <a:ext cx="3794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51460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Mechanisms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29260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timeouts prevent stale verifications from lingering in the pipeline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identity classification: HOSTILE, SUSPECT, NEUTRAL, FRIENDLY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Theater-specific Rules of Engagement loaded from YAML configs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Pure-function state machine ensures deterministic, testable behavior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BATTLESPACE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tactical intelligence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94760" cy="146304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Clustering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grouping of hostile assets into SAM_BATTERY, CONVOY, CP_COMPLEX, AD_NETWORK, and MIXED clusters for prioritized engagement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463040"/>
            <a:ext cx="3794760" cy="146304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146304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Gap Detection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under-surveilled zones and triggers autonomous UAV repositioning to eliminate blind spots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3154680"/>
            <a:ext cx="3794760" cy="146304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" y="315468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375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337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Threat Scoring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68680" y="3749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Per-zone threat level computation based on target types, count, and proximity — drives resource allocation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3154680"/>
            <a:ext cx="3794760" cy="146304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20" name="Shape 15"/>
          <p:cNvSpPr/>
          <p:nvPr/>
        </p:nvSpPr>
        <p:spPr>
          <a:xfrm>
            <a:off x="4709160" y="315468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375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337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Movement Corridors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37760" y="3749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detects likely movement routes for shoot-and-scoot TELs and convoy assets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Production-grade engineering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Pytest Tests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23 test files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645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138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74720" y="2240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Modules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514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32,000+ lines of 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645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309360" y="2240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Components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Blueprint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3375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31546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0" y="33375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3474720" y="3931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WebSocket Actions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42062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bidirectional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31546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33375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6309360" y="3931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Types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42062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unique behaviors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Deployable across defense and security domains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7947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 Defense Suppression (SEAD/DEAD)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80136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detection, tracking, and engagement of SAM sites and mobile TEL launchers across contested airspace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7947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417320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08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Maritime Domain Awareness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80136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ISR across South China Sea with P-8 Poseidon fleet tracking destroyers, submarines, and fishing vessels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560320"/>
            <a:ext cx="37947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56032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651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Area Air Defense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94436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Eastern Flank defense with MQ-9 swarms coordinating against armored columns, IFVs, and MANPADS threats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560320"/>
            <a:ext cx="37947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60320"/>
            <a:ext cx="54864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651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Counter-UAS Operations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94436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intercept of enemy RECON, ATTACK, and JAMMING UAVs with dedicated intercept modes and swarm response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703320"/>
            <a:ext cx="37947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70332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794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Preparation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08736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analysis across historical data to predict adversary movements, identify new facilities, and detect operational surges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703320"/>
            <a:ext cx="37947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70332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794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&amp; Simulation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08736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Full-fidelity tactical simulator with physics-based dynamics for operator training without live assets or real-world risk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battle-tested open-source foundations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606040" cy="338328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26060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9933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2316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404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34640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8163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LangChain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46120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2278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657600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7280" y="36393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JSONL Logging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069080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9728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3474720" y="1417320"/>
            <a:ext cx="2606040" cy="338328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20" name="Shape 12"/>
          <p:cNvSpPr/>
          <p:nvPr/>
        </p:nvSpPr>
        <p:spPr>
          <a:xfrm>
            <a:off x="3474720" y="1417320"/>
            <a:ext cx="26060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3"/>
          <p:cNvSpPr/>
          <p:nvPr/>
        </p:nvSpPr>
        <p:spPr>
          <a:xfrm>
            <a:off x="3657600" y="1600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2011680"/>
            <a:ext cx="164592" cy="16459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931920" y="19933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1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2423160"/>
            <a:ext cx="164592" cy="16459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931920" y="2404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System</a:t>
            </a:r>
            <a:endParaRPr lang="en-US" sz="11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2834640"/>
            <a:ext cx="164592" cy="16459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931920" y="28163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CesiumJS 3D Globe</a:t>
            </a:r>
            <a:endParaRPr lang="en-US" sz="11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3246120"/>
            <a:ext cx="164592" cy="16459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931920" y="32278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UI (Dark)</a:t>
            </a:r>
            <a:endParaRPr lang="en-US" sz="11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0" y="3657600"/>
            <a:ext cx="164592" cy="164592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3931920" y="36393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 Mgmt</a:t>
            </a:r>
            <a:endParaRPr lang="en-US" sz="11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0" y="4069080"/>
            <a:ext cx="164592" cy="164592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393192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Rendering</a:t>
            </a:r>
            <a:endParaRPr lang="en-US" sz="1100" dirty="0"/>
          </a:p>
        </p:txBody>
      </p:sp>
      <p:sp>
        <p:nvSpPr>
          <p:cNvPr id="34" name="Shape 20"/>
          <p:cNvSpPr/>
          <p:nvPr/>
        </p:nvSpPr>
        <p:spPr>
          <a:xfrm>
            <a:off x="6309360" y="1417320"/>
            <a:ext cx="2606040" cy="338328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35" name="Shape 21"/>
          <p:cNvSpPr/>
          <p:nvPr/>
        </p:nvSpPr>
        <p:spPr>
          <a:xfrm>
            <a:off x="6309360" y="141732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22"/>
          <p:cNvSpPr/>
          <p:nvPr/>
        </p:nvSpPr>
        <p:spPr>
          <a:xfrm>
            <a:off x="6492240" y="1600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20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0" y="2011680"/>
            <a:ext cx="164592" cy="164592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766560" y="19933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Fallback</a:t>
            </a:r>
            <a:endParaRPr lang="en-US" sz="110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240" y="2423160"/>
            <a:ext cx="164592" cy="164592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6766560" y="2404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Anthropic / Ollama</a:t>
            </a:r>
            <a:endParaRPr lang="en-US" sz="110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2240" y="2834640"/>
            <a:ext cx="164592" cy="164592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6766560" y="28163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Default</a:t>
            </a:r>
            <a:endParaRPr lang="en-US" sz="110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92240" y="3246120"/>
            <a:ext cx="164592" cy="164592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766560" y="32278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Unscented Kalman Filter</a:t>
            </a:r>
            <a:endParaRPr lang="en-US" sz="110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92240" y="3657600"/>
            <a:ext cx="164592" cy="164592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6766560" y="36393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Fusion</a:t>
            </a:r>
            <a:endParaRPr lang="en-US" sz="110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92240" y="4069080"/>
            <a:ext cx="164592" cy="164592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676656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kill chain in auto-pilot — zero human input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59436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./palantir.sh --demo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80160" y="23957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1362456" y="2560320"/>
            <a:ext cx="0" cy="228600"/>
          </a:xfrm>
          <a:prstGeom prst="line">
            <a:avLst/>
          </a:prstGeom>
          <a:noFill/>
          <a:ln w="19050">
            <a:solidFill>
              <a:srgbClr val="E8EC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2331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launches with Romania theater, 20 UAVs begin SEARCH patrols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2779776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Shape 9"/>
          <p:cNvSpPr/>
          <p:nvPr/>
        </p:nvSpPr>
        <p:spPr>
          <a:xfrm>
            <a:off x="1362456" y="2944368"/>
            <a:ext cx="0" cy="228600"/>
          </a:xfrm>
          <a:prstGeom prst="line">
            <a:avLst/>
          </a:prstGeom>
          <a:noFill/>
          <a:ln w="19050">
            <a:solidFill>
              <a:srgbClr val="E8EC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157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271576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detect and classify SAM sites, TELs, and mobile targets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80160" y="316382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1362456" y="3328416"/>
            <a:ext cx="0" cy="228600"/>
          </a:xfrm>
          <a:prstGeom prst="line">
            <a:avLst/>
          </a:prstGeom>
          <a:noFill/>
          <a:ln w="19050">
            <a:solidFill>
              <a:srgbClr val="E8EC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99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~60s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30998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engine promotes high-confidence targets to NOMINATED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80160" y="354787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62456" y="3712464"/>
            <a:ext cx="0" cy="228600"/>
          </a:xfrm>
          <a:prstGeom prst="line">
            <a:avLst/>
          </a:prstGeom>
          <a:noFill/>
          <a:ln w="19050">
            <a:solidFill>
              <a:srgbClr val="E8EC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838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34838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Auto-pilot APPROVES nominations (Gate 1) after configurable delay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280160" y="393192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1362456" y="4096512"/>
            <a:ext cx="0" cy="228600"/>
          </a:xfrm>
          <a:prstGeom prst="line">
            <a:avLst/>
          </a:prstGeom>
          <a:noFill/>
          <a:ln w="19050">
            <a:solidFill>
              <a:srgbClr val="E8EC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679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45920" y="38679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Planner generates 3 COAs, auto-pilot AUTHORIZES highest-scored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280160" y="4315968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Shape 25"/>
          <p:cNvSpPr/>
          <p:nvPr/>
        </p:nvSpPr>
        <p:spPr>
          <a:xfrm>
            <a:off x="1362456" y="4480560"/>
            <a:ext cx="0" cy="228600"/>
          </a:xfrm>
          <a:prstGeom prst="line">
            <a:avLst/>
          </a:prstGeom>
          <a:noFill/>
          <a:ln w="19050">
            <a:solidFill>
              <a:srgbClr val="E8EC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51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45920" y="42519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Effectors Agent executes strike — probabilistic hit/kill simulation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280160" y="470001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636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45920" y="46360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assessment begins — UAV repositions for damage observation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PALANTIR C2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advantages that set us apart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794760" cy="96012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90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Automation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1801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system that covers the complete F2T2EA kill chain from sensor-to-shooter with AI orchestration at every stage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3794760" cy="96012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141732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0876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490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Auditable AI Decisions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92040" y="1801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Two-gate HITL, ROE evaluation, and async JSONL logging create a full audit trail for every recommendation and engagement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2560320"/>
            <a:ext cx="3794760" cy="96012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" y="256032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517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2633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Sensor-Agnostic Fusion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2960" y="2944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fusion formula works across any sensor type — not locked to specific hardware or data formats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2560320"/>
            <a:ext cx="3794760" cy="96012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20" name="Shape 15"/>
          <p:cNvSpPr/>
          <p:nvPr/>
        </p:nvSpPr>
        <p:spPr>
          <a:xfrm>
            <a:off x="4709160" y="256032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5176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12080" y="2633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Zero-Config Operation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92040" y="2944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heuristic mode without any API keys. LLM integration is optional — upgrades intelligence when available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3703320"/>
            <a:ext cx="3794760" cy="96012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25" name="Shape 19"/>
          <p:cNvSpPr/>
          <p:nvPr/>
        </p:nvSpPr>
        <p:spPr>
          <a:xfrm>
            <a:off x="640080" y="370332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9476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43000" y="3776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Theater Portability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22960" y="4087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YAML-configurable theaters with custom ORBAT, ROE, weather, and terrain. New scenarios deployable in minutes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09160" y="3703320"/>
            <a:ext cx="3794760" cy="960120"/>
          </a:xfrm>
          <a:prstGeom prst="rect">
            <a:avLst/>
          </a:prstGeom>
          <a:solidFill>
            <a:srgbClr val="243556"/>
          </a:solidFill>
          <a:ln/>
        </p:spPr>
      </p:sp>
      <p:sp>
        <p:nvSpPr>
          <p:cNvPr id="30" name="Shape 23"/>
          <p:cNvSpPr/>
          <p:nvPr/>
        </p:nvSpPr>
        <p:spPr>
          <a:xfrm>
            <a:off x="4709160" y="370332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79476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12080" y="3776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Production-Grade Quality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892040" y="4087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475 tests, typed data contracts (Pydantic + TypeScript), structured logging, and comprehensive error handling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5943600" y="-457200"/>
            <a:ext cx="4114800" cy="4114800"/>
          </a:xfrm>
          <a:prstGeom prst="rect">
            <a:avLst/>
          </a:prstGeom>
          <a:solidFill>
            <a:srgbClr val="24355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100000">
            <a:off x="6858000" y="-914400"/>
            <a:ext cx="3657600" cy="3657600"/>
          </a:xfrm>
          <a:prstGeom prst="rect">
            <a:avLst/>
          </a:prstGeom>
          <a:solidFill>
            <a:srgbClr val="2E4470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PALANTIR C2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decisions. Dominate the battlespace.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3474720"/>
            <a:ext cx="27432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LIVE DEMO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709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March 2026  |  palantir-c2.io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Palantir C2 — AI-Powered Command &amp; Control</dc:title>
  <dc:subject>PptxGenJS Presentation</dc:subject>
  <dc:creator>Palantir C2 Team</dc:creator>
  <cp:lastModifiedBy>Palantir C2 Team</cp:lastModifiedBy>
  <cp:revision>1</cp:revision>
  <dcterms:created xsi:type="dcterms:W3CDTF">2026-03-22T22:30:29Z</dcterms:created>
  <dcterms:modified xsi:type="dcterms:W3CDTF">2026-03-22T22:30:29Z</dcterms:modified>
</cp:coreProperties>
</file>