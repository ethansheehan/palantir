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5943600" y="-457200"/>
            <a:ext cx="4114800" cy="4114800"/>
          </a:xfrm>
          <a:prstGeom prst="rect">
            <a:avLst/>
          </a:prstGeom>
          <a:solidFill>
            <a:srgbClr val="3E4D38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100000">
            <a:off x="6858000" y="-914400"/>
            <a:ext cx="3657600" cy="3657600"/>
          </a:xfrm>
          <a:prstGeom prst="rect">
            <a:avLst/>
          </a:prstGeom>
          <a:solidFill>
            <a:srgbClr val="4F604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// FOR OFFICIAL USE ONLY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7373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PALANTIR C2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Command &amp; Control System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BRIEF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474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F2T2EA Kill Chain  |  Multi-Agent AI Orchestration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Drone Swarm Operations  |  Real-Time Sensor Fusion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// FOR OFFICIAL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NEED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kill chain gaps put warfighters at risk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794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54864" cy="13716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64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Sensor-to-Shooter Gap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0574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handoffs between ISR, targeting, and effects create 45-90 minute cycle times. Near-peer adversaries compress this to under 10 minutes.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508760"/>
            <a:ext cx="3794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50876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916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664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Multi-Domain Integration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37760" y="20574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from UAV, satellite, SIGINT, and ground assets remains siloed across incompatible systems. No unified common operating picture.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108960"/>
            <a:ext cx="3794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108960"/>
            <a:ext cx="54864" cy="13716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264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ISR Analyst Shortage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68680" y="36576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 trained ISR analysts exceeds supply 4:1. AI augmentation is no longer optional — it is a force readiness imperative.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09160" y="3108960"/>
            <a:ext cx="3794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09160" y="3108960"/>
            <a:ext cx="54864" cy="13716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918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3264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Accountability &amp; Compliance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937760" y="36576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Directive 3000.09 mandates human oversight for autonomous weapon systems. Systems must provide auditable decision trails.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F2T2EA kill chain with AI orchestration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188720" cy="182880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17320"/>
            <a:ext cx="11887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Observer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detection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track initiation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92224" y="19659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47672" y="1417320"/>
            <a:ext cx="1188720" cy="182880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7672" y="1417320"/>
            <a:ext cx="11887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947672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47672" y="1874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Observer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93392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geolocation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classification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45536" y="19659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00984" y="1417320"/>
            <a:ext cx="1188720" cy="182880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19" name="Shape 17"/>
          <p:cNvSpPr/>
          <p:nvPr/>
        </p:nvSpPr>
        <p:spPr>
          <a:xfrm>
            <a:off x="3300984" y="1417320"/>
            <a:ext cx="118872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3300984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00984" y="1874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Coord.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46704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Multi-UAV persistent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98848" y="19659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54296" y="1417320"/>
            <a:ext cx="1188720" cy="182880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25" name="Shape 23"/>
          <p:cNvSpPr/>
          <p:nvPr/>
        </p:nvSpPr>
        <p:spPr>
          <a:xfrm>
            <a:off x="4654296" y="1417320"/>
            <a:ext cx="118872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654296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54296" y="1874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Analyst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00016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evaluation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nomination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19659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07608" y="1417320"/>
            <a:ext cx="1188720" cy="182880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31" name="Shape 29"/>
          <p:cNvSpPr/>
          <p:nvPr/>
        </p:nvSpPr>
        <p:spPr>
          <a:xfrm>
            <a:off x="6007608" y="1417320"/>
            <a:ext cx="11887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007608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07608" y="1874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Planner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53328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generation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authorization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05472" y="19659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60920" y="1417320"/>
            <a:ext cx="1188720" cy="182880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37" name="Shape 35"/>
          <p:cNvSpPr/>
          <p:nvPr/>
        </p:nvSpPr>
        <p:spPr>
          <a:xfrm>
            <a:off x="7360920" y="1417320"/>
            <a:ext cx="11887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7360920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60920" y="1874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Effectors Agent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0664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observation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re-strike eval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3520440"/>
            <a:ext cx="786384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36118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CONTROL PLANE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" y="39319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— NOMINATION: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APPROVE / REJECT / RETASK verified targets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42062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— COA AUTHORIZATION: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selects from 3 ranked Courses of Action (speed / P(Kill) / cost)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Autonomy Levels: MANUAL (operator decides all) | SUPERVISED (AI proposes, operator approves) | AUTONOMOUS (AI executes, operator monitors)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FUSION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Complementary fusion across all ISR modalities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640080"/>
          </a:xfrm>
          <a:prstGeom prst="rect">
            <a:avLst/>
          </a:prstGeom>
          <a:solidFill>
            <a:srgbClr val="1A231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Confidence = 1 - </a:t>
            </a:r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( 1 - ci )</a:t>
            </a:r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with max-within-type deduplication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44475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86000"/>
            <a:ext cx="144475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EO/IR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Electro-Optical / Infrared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FMV capable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Day/night operations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67712" y="2286000"/>
            <a:ext cx="144475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67712" y="2286000"/>
            <a:ext cx="1444752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267712" y="24231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59152" y="274320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Aperture Radar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All-weather capability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mapping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95344" y="2286000"/>
            <a:ext cx="144475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95344" y="2286000"/>
            <a:ext cx="1444752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895344" y="24231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SIGINT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86784" y="274320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Intelligence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spectrum analysis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 geolocation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22976" y="2286000"/>
            <a:ext cx="144475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22976" y="2286000"/>
            <a:ext cx="1444752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5522976" y="24231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GMTI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14416" y="274320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Moving Target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filtering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50608" y="2286000"/>
            <a:ext cx="144475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0608" y="2286000"/>
            <a:ext cx="1444752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7150608" y="24231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FMV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42048" y="274320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Motion Video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surveillance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Pattern-of-life analysis</a:t>
            </a:r>
            <a:endParaRPr lang="en-US" sz="8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86200"/>
            <a:ext cx="182880" cy="1828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960120" y="3886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Unscented Kalman Filter (UKF) per-target with temporal decay</a:t>
            </a:r>
            <a:endParaRPr lang="en-US" sz="10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78808"/>
            <a:ext cx="182880" cy="1828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960120" y="4178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Cross-sensor disagreement detection flags conflicting intelligence</a:t>
            </a:r>
            <a:endParaRPr lang="en-US" sz="10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71416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60120" y="44714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detection model (Pd) based on range, RCS, weather, sensor type</a:t>
            </a:r>
            <a:endParaRPr lang="en-US" sz="105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64024"/>
            <a:ext cx="182880" cy="1828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60120" y="47640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dataclasses ensure data integrity across fusion pipeline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BATTLE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target types with unique behavior models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01168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318"/>
                          </a:solidFill>
                        </a:rPr>
                        <a:t>TARGET 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318"/>
                          </a:solidFill>
                        </a:rPr>
                        <a:t>BEHAVIOR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318"/>
                          </a:solidFill>
                        </a:rPr>
                        <a:t>THREAT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318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Stationary, emitting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30 km WEZ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Shoot-and-scoot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Ballistic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MANPADS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Ambush, flee on threat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5 km WEZ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RADAR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Stationary, emitting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80-150 km det.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C2 NODE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Stationary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Cmd &amp; Control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APC / IFV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Patrol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Direct fire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ARTILLERY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Fire &amp; reposition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Indirect fire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CP (Command Post)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Stationary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HVT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TRUCK / LOGISTICS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Patrol (slow)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Supply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4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2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STATE MACHINE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466344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 →  CLASSIFIED  →  VERIFIED  →  NOMINATED     (threat-adaptive thresholds, regression timeouts)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OPERATIONS &amp; SWARM COORDINATION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flight modes with autonomous swarm tasking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18"/>
                          </a:solidFill>
                        </a:rPr>
                        <a:t>MODE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2318"/>
                          </a:solidFill>
                        </a:rPr>
                        <a:t>TGT REQ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18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SEARCH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Circular loiter over assigned zone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FOLLOW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2 km orbit, visual contact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PAINT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1 km laser-designation orbit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INTERCEPT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1.5x speed, 300m danger-close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SUPPORT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Swarm sensor assist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VERIFY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Sensor contribution for verification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OVERWATCH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Elevated overwatch position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BDA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Post-strike damage assessment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REPOSITIONING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Auto-rebalance to coverage gap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RTB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Return to base (low fuel)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Swarm Engine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78308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60720" y="1764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UAV-to-target assignment with sensor-gap detection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130552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60720" y="21122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threat weight x verification gap x coverage need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78024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60720" y="2459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120s task TTL with auto-release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825496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60720" y="2807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Idle-count guard for reserves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172968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76072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auto-adjusts per target type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520440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760720" y="3502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imbalance drives repositioning</a:t>
            </a:r>
            <a:endParaRPr lang="en-US" sz="9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3867912"/>
            <a:ext cx="182880" cy="1828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760720" y="3849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Counter-UAS intercept mode</a:t>
            </a:r>
            <a:endParaRPr lang="en-US" sz="950" dirty="0"/>
          </a:p>
        </p:txBody>
      </p:sp>
      <p:sp>
        <p:nvSpPr>
          <p:cNvPr id="22" name="Text 12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Counter-UAS: Tracks RECON, ATTACK, JAMMING, and EVADING enemy UAVs with dedicated intercept modes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INTERFACE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geospatial COP with real-time tactical overlays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560320" cy="137160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1732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8191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920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CesiumJS 3D Globe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entity rendering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dedicated hooks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entities on one COP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429000" y="1417320"/>
            <a:ext cx="2560320" cy="137160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12" name="Shape 9"/>
          <p:cNvSpPr/>
          <p:nvPr/>
        </p:nvSpPr>
        <p:spPr>
          <a:xfrm>
            <a:off x="3429000" y="1417320"/>
            <a:ext cx="2560320" cy="45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58191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1920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Map Modes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1188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OPERATIONAL, COVERAGE,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THREAT, FUSION,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SWARM, TERRAIN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17920" y="1417320"/>
            <a:ext cx="2560320" cy="137160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17" name="Shape 13"/>
          <p:cNvSpPr/>
          <p:nvPr/>
        </p:nvSpPr>
        <p:spPr>
          <a:xfrm>
            <a:off x="6217920" y="1417320"/>
            <a:ext cx="2560320" cy="4572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8191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1920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Multi-Sensor Camera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EO/IR, SAR, SIGINT, FUSION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SINGLE/PIP/SPLIT/QUAD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40080" y="3017520"/>
            <a:ext cx="2560320" cy="137160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22" name="Shape 17"/>
          <p:cNvSpPr/>
          <p:nvPr/>
        </p:nvSpPr>
        <p:spPr>
          <a:xfrm>
            <a:off x="640080" y="3017520"/>
            <a:ext cx="2560320" cy="4572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8211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SIGINT Display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2296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spectrum waterfall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classification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 geolocation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429000" y="3017520"/>
            <a:ext cx="2560320" cy="137160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27" name="Shape 21"/>
          <p:cNvSpPr/>
          <p:nvPr/>
        </p:nvSpPr>
        <p:spPr>
          <a:xfrm>
            <a:off x="3429000" y="3017520"/>
            <a:ext cx="2560320" cy="457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182112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1188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Strike Board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61188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queue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comparison view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Two-gate HITL workflow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217920" y="3017520"/>
            <a:ext cx="2560320" cy="137160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32" name="Shape 25"/>
          <p:cNvSpPr/>
          <p:nvPr/>
        </p:nvSpPr>
        <p:spPr>
          <a:xfrm>
            <a:off x="6217920" y="3017520"/>
            <a:ext cx="2560320" cy="4572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182112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40080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Battlespace Assessment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40080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clusters, coverage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gaps, zone heatmap,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corridors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CONFIGURATIONS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Pre-configured OPLAN scenarios, extensible via YAML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60604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2606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Romania Eastern Flank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Article 5 Defense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FORCE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2267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 MQ-9 Reaper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endurance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EO/IR sensor suite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FORCE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29992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SAM, 4x TEL, 8x TRUCK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CP, 6x MANPADS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RADAR, 1x C2 NODE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LOGISTICS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3913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Grassland / Clear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0" y="1417320"/>
            <a:ext cx="260604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0" y="141732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South China Sea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1880" y="18105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Domain Awareness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11880" y="21031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FORCE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11880" y="2267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 P-8 Poseidon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 endurance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radar @ 6km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11880" y="28346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FORCE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11880" y="29992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DESTROYER, 4x FRIGATE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MISSILE BOAT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SUBMARINE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12x FISHING VESSEL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11880" y="37490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11880" y="3913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/ Partly cloudy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1417320"/>
            <a:ext cx="260604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1417320"/>
            <a:ext cx="26060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Baltic States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18105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Forward Defense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21031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FORCE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46520" y="2267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12x MQ-9 Reaper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 endurance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EO/IR sensor suite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46520" y="28346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FORCE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46520" y="29992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SAM, 3x TEL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MANPADS, 4x RADAR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 APC, 6x IFV, 4x MBT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C2 NODE, 5x LOGISTICS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46520" y="37490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46520" y="3913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Urban-forest / Overcast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0080" y="4800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configs are YAML-based — new OPLANs deployable in hours with custom Blue/Red ORBAT, ROE, weather, and terrain parameters.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ENGAGEMENT &amp; COMPLIANCE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DoD Directive 3000.09 compliance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794760" cy="292608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17320"/>
            <a:ext cx="54864" cy="2926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ROE ENGINE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9476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Theater-specific ROE loaded from YAML configs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13432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295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 identity classification: HOSTILE, SUSPECT, NEUTRAL, FRIENDLY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6090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64261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action types: ENGAGE, OBSERVE_ONLY, WITHDRAW, REPORT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08376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2990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response based on threat level and PID confidence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355848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33375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ROE evaluations logged with full audit trail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703320"/>
            <a:ext cx="164592" cy="16459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43000" y="36850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Analyst agent enforces ROE at Gate 1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4709160" y="1417320"/>
            <a:ext cx="3794760" cy="292608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22" name="Shape 14"/>
          <p:cNvSpPr/>
          <p:nvPr/>
        </p:nvSpPr>
        <p:spPr>
          <a:xfrm>
            <a:off x="4709160" y="1417320"/>
            <a:ext cx="54864" cy="2926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15"/>
          <p:cNvSpPr/>
          <p:nvPr/>
        </p:nvSpPr>
        <p:spPr>
          <a:xfrm>
            <a:off x="493776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&amp; ACCOUNTABILITY</a:t>
            </a:r>
            <a:endParaRPr lang="en-US" sz="14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965960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12080" y="19476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JSONL event logging with daily rotation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313432"/>
            <a:ext cx="164592" cy="1645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12080" y="2295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recommendation includes reasoning chain</a:t>
            </a:r>
            <a:endParaRPr lang="en-US" sz="10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660904"/>
            <a:ext cx="164592" cy="16459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12080" y="264261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Two-gate HITL prevents unauthorized engagements</a:t>
            </a:r>
            <a:endParaRPr lang="en-US" sz="10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008376"/>
            <a:ext cx="164592" cy="16459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212080" y="2990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Kill-chain tracking for After-Action Reviews (AARs)</a:t>
            </a:r>
            <a:endParaRPr lang="en-US" sz="10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355848"/>
            <a:ext cx="164592" cy="164592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212080" y="33375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via structlog across all subsystems</a:t>
            </a:r>
            <a:endParaRPr lang="en-US" sz="10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703320"/>
            <a:ext cx="164592" cy="164592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5212080" y="36850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Auditor agent monitors decision quality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BATTLESPACE ASSESSMENT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threat analysis and resource allocation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794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54864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49047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Clustering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Auto-groups hostile assets into SAM_BATTERY, CONVOY, CP_COMPLEX, AD_NETWORK, and MIXED clusters for prioritized targeting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794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17320"/>
            <a:ext cx="54864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9047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Gap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under-surveilled zones and triggers autonomous UAV repositioning. Ensures persistent ISR across the AO.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3794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468880"/>
            <a:ext cx="54864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542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Threat Scoring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78892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Per-zone threat level based on target types, count, and proximity. Drives ISR priority queue and asset allocation.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468880"/>
            <a:ext cx="3794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468880"/>
            <a:ext cx="54864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542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Movement Corridors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78892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identifies likely routes for shoot-and-scoot TELs and convoy movements. Enables preemptive positioning.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520440"/>
            <a:ext cx="3794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520440"/>
            <a:ext cx="54864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59359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ISR Priority Queue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8404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= threat weight x (1 - verification progress) x sensor gap. Optimizes limited ISR assets against verified threats.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3520440"/>
            <a:ext cx="3794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52044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59359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Analysis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8404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activity analysis detects anomalies in convoy frequency, new facility construction, and operational tempo surges.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architecture built for interoperability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606040" cy="310896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17320"/>
            <a:ext cx="2606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947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23134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97480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2679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10Hz simulation loop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63240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8992" y="30449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Dual-client architecture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29000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78992" y="34107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JSONL logging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794760"/>
            <a:ext cx="164592" cy="16459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78992" y="37764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data contracts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3474720" y="1417320"/>
            <a:ext cx="2606040" cy="310896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22" name="Shape 14"/>
          <p:cNvSpPr/>
          <p:nvPr/>
        </p:nvSpPr>
        <p:spPr>
          <a:xfrm>
            <a:off x="3474720" y="1417320"/>
            <a:ext cx="26060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15"/>
          <p:cNvSpPr/>
          <p:nvPr/>
        </p:nvSpPr>
        <p:spPr>
          <a:xfrm>
            <a:off x="3657600" y="16002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1965960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913632" y="1947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0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2331720"/>
            <a:ext cx="164592" cy="1645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913632" y="23134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CesiumJS 3D Globe</a:t>
            </a:r>
            <a:endParaRPr lang="en-US" sz="10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2697480"/>
            <a:ext cx="164592" cy="16459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913632" y="2679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UI (Dark Theme)</a:t>
            </a:r>
            <a:endParaRPr lang="en-US" sz="10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3063240"/>
            <a:ext cx="164592" cy="16459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913632" y="30449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Mgmt</a:t>
            </a:r>
            <a:endParaRPr lang="en-US" sz="105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0" y="3429000"/>
            <a:ext cx="164592" cy="164592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3913632" y="34107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drone cameras</a:t>
            </a:r>
            <a:endParaRPr lang="en-US" sz="105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0" y="3794760"/>
            <a:ext cx="164592" cy="164592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3913632" y="37764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UI components</a:t>
            </a:r>
            <a:endParaRPr lang="en-US" sz="1050" dirty="0"/>
          </a:p>
        </p:txBody>
      </p:sp>
      <p:sp>
        <p:nvSpPr>
          <p:cNvPr id="36" name="Shape 22"/>
          <p:cNvSpPr/>
          <p:nvPr/>
        </p:nvSpPr>
        <p:spPr>
          <a:xfrm>
            <a:off x="6309360" y="1417320"/>
            <a:ext cx="2606040" cy="310896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37" name="Shape 23"/>
          <p:cNvSpPr/>
          <p:nvPr/>
        </p:nvSpPr>
        <p:spPr>
          <a:xfrm>
            <a:off x="6309360" y="1417320"/>
            <a:ext cx="26060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24"/>
          <p:cNvSpPr/>
          <p:nvPr/>
        </p:nvSpPr>
        <p:spPr>
          <a:xfrm>
            <a:off x="6492240" y="16002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0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1965960"/>
            <a:ext cx="164592" cy="164592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6748272" y="1947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LangChain</a:t>
            </a:r>
            <a:endParaRPr lang="en-US" sz="105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2331720"/>
            <a:ext cx="164592" cy="164592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6748272" y="23134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fallback</a:t>
            </a:r>
            <a:endParaRPr lang="en-US" sz="105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2240" y="2697480"/>
            <a:ext cx="164592" cy="164592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6748272" y="2679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Unscented Kalman Filter</a:t>
            </a:r>
            <a:endParaRPr lang="en-US" sz="105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92240" y="3063240"/>
            <a:ext cx="164592" cy="164592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6748272" y="30449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sensor fusion</a:t>
            </a:r>
            <a:endParaRPr lang="en-US" sz="1050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92240" y="3429000"/>
            <a:ext cx="164592" cy="164592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6748272" y="34107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050" dirty="0"/>
          </a:p>
        </p:txBody>
      </p:sp>
      <p:pic>
        <p:nvPicPr>
          <p:cNvPr id="4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92240" y="3794760"/>
            <a:ext cx="164592" cy="164592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6748272" y="37764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default mode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READINESS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Production-grade engineering metrics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test files covering all subsystems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41732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Modules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32,000+ lines of tested 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09360" y="20574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F2T2EA coverage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92608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 Actions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794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bidirectional protocol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292608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74720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3474720" y="35661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Theater Configs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3794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scenarios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292608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10Hz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309360" y="35661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Rate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794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tactical loop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operational modes for any mission profile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606040" cy="256032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17320"/>
            <a:ext cx="2606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C2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2331720" cy="320040"/>
          </a:xfrm>
          <a:prstGeom prst="rect">
            <a:avLst/>
          </a:prstGeom>
          <a:solidFill>
            <a:srgbClr val="1A231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965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./palantir.sh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operator-in-the-loop mode. All HITL gates active. Operator approves every nomination and COA. Recommended for live operations.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417320"/>
            <a:ext cx="2606040" cy="256032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1417320"/>
            <a:ext cx="260604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600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AUTO-PILOT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11880" y="1965960"/>
            <a:ext cx="2331720" cy="320040"/>
          </a:xfrm>
          <a:prstGeom prst="rect">
            <a:avLst/>
          </a:prstGeom>
          <a:solidFill>
            <a:srgbClr val="1A2318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1965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./palantir.sh --demo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24231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F2T2EA execution with no human input. Auto-approves nominations (5s delay) and COAs (3s delay). Ideal for demonstrations and training.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1417320"/>
            <a:ext cx="2606040" cy="2560320"/>
          </a:xfrm>
          <a:prstGeom prst="rect">
            <a:avLst/>
          </a:prstGeom>
          <a:solidFill>
            <a:srgbClr val="2D3A28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1417320"/>
            <a:ext cx="26060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600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HEADLESS BACKEND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1965960"/>
            <a:ext cx="2331720" cy="320040"/>
          </a:xfrm>
          <a:prstGeom prst="rect">
            <a:avLst/>
          </a:prstGeom>
          <a:solidFill>
            <a:srgbClr val="1A2318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1965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./palantir.sh --no-sim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24231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Backend-only mode without drone video simulator. Lighter resource footprint for integration testing and CI/CD pipelines.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0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480560"/>
            <a:ext cx="164592" cy="16459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14400" y="446227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live demonstration with operational scenario of your choice</a:t>
            </a:r>
            <a:endParaRPr lang="en-US" sz="10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736592"/>
            <a:ext cx="164592" cy="16459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14400" y="471830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theater requirements for custom OPLAN configuration</a:t>
            </a:r>
            <a:endParaRPr lang="en-US" sz="10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992624"/>
            <a:ext cx="164592" cy="16459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14400" y="497433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sensor integration requirements for your ISR asset fleet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// FOR OFFICIAL USE ONLY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 rot="1500000">
            <a:off x="5943600" y="-457200"/>
            <a:ext cx="4114800" cy="4114800"/>
          </a:xfrm>
          <a:prstGeom prst="rect">
            <a:avLst/>
          </a:prstGeom>
          <a:solidFill>
            <a:srgbClr val="3E4D38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100000">
            <a:off x="6858000" y="-914400"/>
            <a:ext cx="3657600" cy="3657600"/>
          </a:xfrm>
          <a:prstGeom prst="rect">
            <a:avLst/>
          </a:prstGeom>
          <a:solidFill>
            <a:srgbClr val="4F6048">
              <a:alpha val="4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28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PALANTIR C2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Command &amp; Control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the kill chain. Maintain the human edge.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657600"/>
            <a:ext cx="29260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LIVE DEMONSTRATION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// FOR OFFICIAL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Palantir C2 — Capability Brief</dc:title>
  <dc:subject>PptxGenJS Presentation</dc:subject>
  <dc:creator>Palantir C2 Team</dc:creator>
  <cp:lastModifiedBy>Palantir C2 Team</cp:lastModifiedBy>
  <cp:revision>1</cp:revision>
  <dcterms:created xsi:type="dcterms:W3CDTF">2026-03-22T22:44:23Z</dcterms:created>
  <dcterms:modified xsi:type="dcterms:W3CDTF">2026-03-22T22:44:23Z</dcterms:modified>
</cp:coreProperties>
</file>